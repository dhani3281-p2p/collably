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embeddedFontLst>
    <p:embeddedFont>
      <p:font typeface="Anton"/>
      <p:regular r:id="rId201314"/>
    </p:embeddedFont>
    <p:embeddedFont>
      <p:font typeface="Archivo Black"/>
      <p:regular r:id="rId201315"/>
    </p:embeddedFont>
    <p:embeddedFont>
      <p:font typeface="Barlow Bold"/>
      <p:regular r:id="rId201316"/>
    </p:embeddedFont>
    <p:embeddedFont>
      <p:font typeface="Gelasio Bold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F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F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FF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5">
    <p:bg>
      <p:bgPr>
        <a:solidFill>
          <a:srgbClr val="FFFD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A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49" y="1930360"/>
            <a:ext cx="9321567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72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AI Content Creator Marketplace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7149" y="4134128"/>
            <a:ext cx="9321567" cy="548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trusted, AI-native way for brands and agencies to discover creators, shape briefs, and manage production from first idea to final delivery.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037804" cy="10226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980579"/>
            <a:ext cx="115821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spc="150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CHALLENGE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1403945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AI production has outgrown traditional freelance marketplaces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454870"/>
            <a:ext cx="10972526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The work is changing faster than the marketplace grammar.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957116"/>
            <a:ext cx="5333867" cy="1393627"/>
          </a:xfrm>
          <a:prstGeom prst="roundRect">
            <a:avLst>
              <a:gd name="adj" fmla="val 3674"/>
            </a:avLst>
          </a:prstGeom>
          <a:noFill/>
          <a:ln w="19050">
            <a:solidFill>
              <a:srgbClr val="C4B4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1030" y="3130852"/>
            <a:ext cx="51624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AI CREATED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1030" y="3372842"/>
            <a:ext cx="499097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New specialist roles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81030" y="3815858"/>
            <a:ext cx="4990975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Generative AI has created new specialists: AI filmmakers, AI animators, and generative content creators.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8244" y="2957116"/>
            <a:ext cx="5333867" cy="1393627"/>
          </a:xfrm>
          <a:prstGeom prst="roundRect">
            <a:avLst>
              <a:gd name="adj" fmla="val 3674"/>
            </a:avLst>
          </a:prstGeom>
          <a:noFill/>
          <a:ln w="19050">
            <a:solidFill>
              <a:srgbClr val="C4B4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19689" y="3130852"/>
            <a:ext cx="516242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spc="72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BRANDS STILL LACK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19689" y="3372842"/>
            <a:ext cx="4990975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Reliable evaluation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419689" y="3815858"/>
            <a:ext cx="4990975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 still lack a reliable way to discover, evaluate, and engage creators with proven AI-production skills.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9585" y="4655542"/>
            <a:ext cx="10972526" cy="1240830"/>
          </a:xfrm>
          <a:prstGeom prst="roundRect">
            <a:avLst>
              <a:gd name="adj" fmla="val 4127"/>
            </a:avLst>
          </a:prstGeom>
          <a:solidFill>
            <a:srgbClr val="F6F8FA"/>
          </a:solidFill>
          <a:ln w="19050">
            <a:solidFill>
              <a:srgbClr val="C4B4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030" y="4826992"/>
            <a:ext cx="1080108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120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EXISTING MODELS BREAK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81030" y="5206802"/>
            <a:ext cx="10629634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marketplaces do not expose the tools, workflows, licensing, and iteration patterns behind AI-generated work.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397766" y="6447582"/>
            <a:ext cx="70255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8650"/>
            <a:ext cx="115821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spc="150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SOLUTION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1052016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One marketplace connects the complete creative engagement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102941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publishes a structured brief; the marketplace matches relevant AI creators; the brand reviews AI-native portfolios and workflow evidence; creator and brand collaborate through generations, revisions, licensing, and delivery.</a:t>
            </a:r>
            <a:endParaRPr lang="en-US" sz="2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7193" y="4191000"/>
            <a:ext cx="6037211" cy="26034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484976" y="4462673"/>
            <a:ext cx="3319983" cy="241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Publish brief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484976" y="5061610"/>
            <a:ext cx="3319983" cy="2511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Match creators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3484976" y="5664069"/>
            <a:ext cx="3319983" cy="2414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Review portfolios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484976" y="6285898"/>
            <a:ext cx="3319983" cy="193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Collaborate &amp; deliver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96576" y="6447582"/>
            <a:ext cx="70374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8650"/>
            <a:ext cx="115821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spc="150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CREATOR PROFILES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1052016"/>
            <a:ext cx="1097252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Creator profiles make AI work legible and comparable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658124"/>
            <a:ext cx="11582110" cy="274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portfolio becomes useful when the production evidence travels with the 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3367385"/>
            <a:ext cx="3962301" cy="2926060"/>
          </a:xfrm>
          <a:prstGeom prst="rect">
            <a:avLst/>
          </a:prstGeom>
          <a:solidFill>
            <a:srgbClr val="F2F0E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396" y="3519785"/>
            <a:ext cx="2577242" cy="14496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2396" y="5242520"/>
            <a:ext cx="36575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375B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Portfolio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52396" y="5683845"/>
            <a:ext cx="36575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Videos, animations, graphics, and other AI-generated work.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114697" y="3367385"/>
            <a:ext cx="3962301" cy="2926060"/>
          </a:xfrm>
          <a:prstGeom prst="rect">
            <a:avLst/>
          </a:prstGeom>
          <a:solidFill>
            <a:srgbClr val="F2F0E5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7093" y="3519785"/>
            <a:ext cx="2577242" cy="144968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67093" y="5242520"/>
            <a:ext cx="36575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375B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Tool stack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267093" y="5683845"/>
            <a:ext cx="36575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Models, generation tools, editing tools, and production workflow.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8229394" y="3367385"/>
            <a:ext cx="3962301" cy="2926060"/>
          </a:xfrm>
          <a:prstGeom prst="rect">
            <a:avLst/>
          </a:prstGeom>
          <a:solidFill>
            <a:srgbClr val="F2F0E5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0" y="3519785"/>
            <a:ext cx="2577242" cy="144968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1790" y="5242520"/>
            <a:ext cx="3657509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2375B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Capabilities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8381790" y="5683845"/>
            <a:ext cx="36575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Skills, specialization, content types, formats, and aspect ratios.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0" y="6429970"/>
            <a:ext cx="12191695" cy="428030"/>
          </a:xfrm>
          <a:prstGeom prst="rect">
            <a:avLst/>
          </a:prstGeom>
          <a:solidFill>
            <a:srgbClr val="F6F8FA"/>
          </a:solidFill>
          <a:ln w="19050">
            <a:solidFill>
              <a:srgbClr val="C4B4E3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40887" y="6570861"/>
            <a:ext cx="12050808" cy="1462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TRUST LAYER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verified tools, verified workflows, and verified past work make comparison credible.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11392210" y="6447582"/>
            <a:ext cx="708107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54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118" y="609600"/>
            <a:ext cx="5912992" cy="1035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2500" b="1" spc="150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BRIEF BUILDER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5669118" y="1706066"/>
            <a:ext cx="59129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Briefs turn rough campaign ideas into production-ready requirements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118" y="3214191"/>
            <a:ext cx="5912992" cy="14942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goal and audience</a:t>
            </a:r>
            <a:endParaRPr lang="en-US" sz="1500" dirty="0"/>
          </a:p>
          <a:p>
            <a:pPr algn="l" marL="304800" indent="-304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Content type, style, references, and format or aspect ratio</a:t>
            </a:r>
            <a:endParaRPr lang="en-US" sz="1500" dirty="0"/>
          </a:p>
          <a:p>
            <a:pPr algn="l" marL="304800" indent="-304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Deliverables, timeline, revisions, and collaboration expectations</a:t>
            </a:r>
            <a:endParaRPr lang="en-US" sz="1500" dirty="0"/>
          </a:p>
          <a:p>
            <a:pPr algn="l" marL="304800" indent="-304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Commercial-use, licensing, ownership, and usage requirements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669118" y="4844951"/>
            <a:ext cx="5912992" cy="91440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7" name="Text 4"/>
          <p:cNvSpPr/>
          <p:nvPr/>
        </p:nvSpPr>
        <p:spPr>
          <a:xfrm>
            <a:off x="5821515" y="4997351"/>
            <a:ext cx="5608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BONUS</a:t>
            </a:r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an AI-assisted brief builder expands a rough idea into a complete brief.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1400247" y="6447582"/>
            <a:ext cx="700070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8650"/>
            <a:ext cx="1158211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spc="150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DISCOVERY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1052016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Search and filtering move brands from browsing to confident shortlists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2102941"/>
            <a:ext cx="115821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Make creator relevance clear—and give every search a next step.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0" y="3245842"/>
            <a:ext cx="3860703" cy="165377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6" name="Text 4"/>
          <p:cNvSpPr/>
          <p:nvPr/>
        </p:nvSpPr>
        <p:spPr>
          <a:xfrm>
            <a:off x="152396" y="3398242"/>
            <a:ext cx="355591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Filter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2396" y="3900488"/>
            <a:ext cx="355591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skills, specialization, tools, content type, format, and other profile attributes.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65496" y="3245842"/>
            <a:ext cx="3860703" cy="165377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9" name="Text 7"/>
          <p:cNvSpPr/>
          <p:nvPr/>
        </p:nvSpPr>
        <p:spPr>
          <a:xfrm>
            <a:off x="4317892" y="3398242"/>
            <a:ext cx="355591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Explain the match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317892" y="3900488"/>
            <a:ext cx="355591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Show tool fit, style fit, portfolio fit, and availability signals so brands can see why a creator matches the brief.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330992" y="3245842"/>
            <a:ext cx="3860703" cy="1653778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8483388" y="3398242"/>
            <a:ext cx="355591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Recover empty results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83388" y="3900488"/>
            <a:ext cx="355591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Offer adjacent suggestions, relaxed filters, or an AI-assisted refinement path.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0" y="5204321"/>
            <a:ext cx="12191695" cy="1653679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15" name="Text 13"/>
          <p:cNvSpPr/>
          <p:nvPr/>
        </p:nvSpPr>
        <p:spPr>
          <a:xfrm>
            <a:off x="0" y="5658545"/>
            <a:ext cx="1219169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OUTPUT</a:t>
            </a:r>
            <a:pPr algn="ctr" indent="0" marL="0">
              <a:lnSpc>
                <a:spcPct val="100000"/>
              </a:lnSpc>
              <a:buNone/>
            </a:pPr>
            <a:r>
              <a:rPr lang="en-US" sz="2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a reasoned shortlist, not an endless browse.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11396179" y="6447582"/>
            <a:ext cx="7041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0972526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100"/>
              </a:spcAft>
              <a:buNone/>
            </a:pPr>
            <a:r>
              <a:rPr lang="en-US" sz="2000" b="1" spc="120" kern="100" dirty="0">
                <a:solidFill>
                  <a:srgbClr val="12375B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MODEL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09585" y="1553666"/>
            <a:ext cx="109725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The product model keeps creative, technical, and commercial context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2604591"/>
            <a:ext cx="5333867" cy="1552575"/>
          </a:xfrm>
          <a:prstGeom prst="rect">
            <a:avLst/>
          </a:prstGeom>
          <a:solidFill>
            <a:srgbClr val="232B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1" y="2756991"/>
            <a:ext cx="304792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981" y="3198316"/>
            <a:ext cx="502907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Creator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61981" y="3641332"/>
            <a:ext cx="502907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Identity, skills, specializations, tools, workflows, portfolio items, verification signals.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48244" y="2604591"/>
            <a:ext cx="5333867" cy="1552575"/>
          </a:xfrm>
          <a:prstGeom prst="rect">
            <a:avLst/>
          </a:prstGeom>
          <a:solidFill>
            <a:srgbClr val="232B3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640" y="2756991"/>
            <a:ext cx="304792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640" y="3198316"/>
            <a:ext cx="502907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Portfolio item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400640" y="3641332"/>
            <a:ext cx="502907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Media, content type, style, aspect ratio, tools/models used, workflow notes, rights status.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09585" y="4461966"/>
            <a:ext cx="5333867" cy="1552575"/>
          </a:xfrm>
          <a:prstGeom prst="rect">
            <a:avLst/>
          </a:prstGeom>
          <a:solidFill>
            <a:srgbClr val="232B3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1" y="4614366"/>
            <a:ext cx="304792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61981" y="5055691"/>
            <a:ext cx="502907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Brief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761981" y="5498707"/>
            <a:ext cx="502907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Campaign requirements, content type, style, format, usage rights, timeline, budget, and revision rules.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48244" y="4461966"/>
            <a:ext cx="5333867" cy="1552575"/>
          </a:xfrm>
          <a:prstGeom prst="rect">
            <a:avLst/>
          </a:prstGeom>
          <a:solidFill>
            <a:srgbClr val="232B3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640" y="4614366"/>
            <a:ext cx="304792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640" y="5055691"/>
            <a:ext cx="5029074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Engagement</a:t>
            </a:r>
            <a:endParaRPr lang="en-US" sz="2400" dirty="0"/>
          </a:p>
        </p:txBody>
      </p:sp>
      <p:sp>
        <p:nvSpPr>
          <p:cNvPr id="19" name="Text 13"/>
          <p:cNvSpPr/>
          <p:nvPr/>
        </p:nvSpPr>
        <p:spPr>
          <a:xfrm>
            <a:off x="6400640" y="5498707"/>
            <a:ext cx="5029074" cy="365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Selected creator, milestones, feedback rounds, license terms, approvals, and delivery.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09585" y="6151066"/>
            <a:ext cx="10972526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Together, the model supports discovery, evaluation, collaboration, rights, and delivery across the engagement.</a:t>
            </a:r>
            <a:endParaRPr lang="en-US" sz="2000" dirty="0"/>
          </a:p>
        </p:txBody>
      </p:sp>
      <p:sp>
        <p:nvSpPr>
          <p:cNvPr id="21" name="Text 15"/>
          <p:cNvSpPr/>
          <p:nvPr/>
        </p:nvSpPr>
        <p:spPr>
          <a:xfrm>
            <a:off x="11404414" y="6447582"/>
            <a:ext cx="69590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35991" cy="6858000"/>
          </a:xfrm>
          <a:prstGeom prst="rect">
            <a:avLst/>
          </a:prstGeom>
          <a:solidFill>
            <a:srgbClr val="F6F8FA"/>
          </a:solidFill>
          <a:ln/>
        </p:spPr>
      </p:sp>
      <p:sp>
        <p:nvSpPr>
          <p:cNvPr id="3" name="Text 1"/>
          <p:cNvSpPr/>
          <p:nvPr/>
        </p:nvSpPr>
        <p:spPr>
          <a:xfrm>
            <a:off x="152396" y="152400"/>
            <a:ext cx="658359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spc="120" kern="100" dirty="0">
                <a:solidFill>
                  <a:srgbClr val="000000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DIFFERENTIATION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52396" y="1096466"/>
            <a:ext cx="64311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AI-native portfolio evidence replaces guesswork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2396" y="2430165"/>
            <a:ext cx="6431198" cy="135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spcAft>
                <a:spcPts val="1050"/>
              </a:spcAft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creator sites show the output. Collabe Gen shows how the output was made—and whether the process can be trusted.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2396" y="3922415"/>
            <a:ext cx="6431198" cy="1224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04800" indent="-304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Tools, models, prompts, and workflow stages travel with each portfolio item.</a:t>
            </a:r>
            <a:endParaRPr lang="en-US" sz="1500" dirty="0"/>
          </a:p>
          <a:p>
            <a:pPr algn="l" marL="304800" indent="-304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signals make capability and repeatability easier to assess.</a:t>
            </a:r>
            <a:endParaRPr lang="en-US" sz="1500" dirty="0"/>
          </a:p>
          <a:p>
            <a:pPr algn="l" marL="304800" indent="-304800">
              <a:lnSpc>
                <a:spcPct val="100000"/>
              </a:lnSpc>
              <a:buSzPct val="100000"/>
              <a:buChar char="•"/>
            </a:pPr>
            <a:r>
              <a:rPr lang="en-US" sz="15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Brands compare evidence, not just polished thumbnails.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269" y="609600"/>
            <a:ext cx="3931841" cy="5638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96377" y="6447582"/>
            <a:ext cx="70393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73911" y="3307060"/>
            <a:ext cx="243774" cy="2437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4792" y="304800"/>
            <a:ext cx="1158211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2375B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DIFFERENTIATION.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304792" y="1387277"/>
            <a:ext cx="11582110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200" b="1" dirty="0">
                <a:solidFill>
                  <a:srgbClr val="12375B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Brief-to-delivery collaboration is built in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04792" y="2086193"/>
            <a:ext cx="11582110" cy="670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freelance sites stop at discovery. Collabe Gen carries the commercial engagement through production.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04792" y="2877046"/>
            <a:ext cx="118869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406400" indent="-4064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matching connects brief requirements to creator evidence.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04792" y="3759696"/>
            <a:ext cx="118869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406400" indent="-4064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Commercial-use rights, licensing, revisions, milestones, and approvals stay attached.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04792" y="4642346"/>
            <a:ext cx="11886903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406400" indent="-406400">
              <a:lnSpc>
                <a:spcPct val="100000"/>
              </a:lnSpc>
              <a:buSzPct val="100000"/>
              <a:buChar char="•"/>
            </a:pPr>
            <a:r>
              <a:rPr lang="en-US" sz="200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path moves from first generation to final delivery.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396179" y="6447582"/>
            <a:ext cx="70413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6895" y="4588570"/>
            <a:ext cx="3047924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53050"/>
            <a:ext cx="2641534" cy="743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2500" b="1" spc="149" kern="100" dirty="0">
                <a:solidFill>
                  <a:srgbClr val="12375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DEMO</a:t>
            </a:r>
            <a:pPr algn="l" indent="0" marL="0">
              <a:lnSpc>
                <a:spcPct val="91000"/>
              </a:lnSpc>
              <a:buNone/>
            </a:pPr>
            <a:r>
              <a:rPr lang="en-US" sz="2500" b="1" spc="149" kern="100" dirty="0">
                <a:solidFill>
                  <a:srgbClr val="12375B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 &amp; </a:t>
            </a:r>
            <a:pPr algn="l" indent="0" marL="0">
              <a:lnSpc>
                <a:spcPct val="91000"/>
              </a:lnSpc>
              <a:buNone/>
            </a:pPr>
            <a:r>
              <a:rPr lang="en-US" sz="2500" b="1" spc="149" kern="100" dirty="0">
                <a:solidFill>
                  <a:srgbClr val="12375B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EVALUATION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9585" y="1768387"/>
            <a:ext cx="2641534" cy="1136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Prototype scope and evaluation logic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09585" y="3013921"/>
            <a:ext cx="2641534" cy="15016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2150" dirty="0">
                <a:solidFill>
                  <a:srgbClr val="1237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focused prototype proves the path from intent to evidence-backed shortlist.</a:t>
            </a:r>
            <a:endParaRPr lang="en-US" sz="2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5081" y="609600"/>
          <a:ext cx="3400538" cy="914400"/>
        </p:xfrm>
        <a:graphic>
          <a:graphicData uri="http://schemas.openxmlformats.org/drawingml/2006/table">
            <a:tbl>
              <a:tblPr/>
              <a:tblGrid>
                <a:gridCol w="1276920"/>
                <a:gridCol w="771311"/>
                <a:gridCol w="1352308"/>
              </a:tblGrid>
              <a:tr h="67615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Evaluation area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Weight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the prototype demonstrates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615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Creator Profiles &amp; AI Portfolios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AI portfolio evidence, tools, capabilities, and verification signals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Brief Definition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Structured requirements, rights, timeline, and revision rules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Discovery &amp; Filtering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Relevant filters, match rationale, and shortlist quality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688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User Experience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Clear, efficient movement through the product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698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Presentation &amp; Demo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10%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2375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 coherent end-to-end story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75792" marR="75792" marT="40423" marB="40423" anchor="ctr">
                    <a:lnL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B4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330992" y="0"/>
            <a:ext cx="3860703" cy="6858000"/>
          </a:xfrm>
          <a:prstGeom prst="rect">
            <a:avLst/>
          </a:prstGeom>
          <a:solidFill>
            <a:srgbClr val="9C6DF8"/>
          </a:solidFill>
          <a:ln/>
        </p:spPr>
      </p:sp>
      <p:sp>
        <p:nvSpPr>
          <p:cNvPr id="7" name="Text 4"/>
          <p:cNvSpPr/>
          <p:nvPr/>
        </p:nvSpPr>
        <p:spPr>
          <a:xfrm>
            <a:off x="8483388" y="165876"/>
            <a:ext cx="3555911" cy="4158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DEMO PATH</a:t>
            </a:r>
            <a:pPr algn="l" indent="0" marL="0">
              <a:lnSpc>
                <a:spcPct val="9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ct val="91000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pPr algn="l" indent="0" marL="0">
              <a:lnSpc>
                <a:spcPct val="91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483388" y="676720"/>
            <a:ext cx="3555911" cy="161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create brief → filter creators → inspect portfolio evidence → shortlist → review engagement details.</a:t>
            </a:r>
            <a:endParaRPr lang="en-US" sz="2300" dirty="0"/>
          </a:p>
        </p:txBody>
      </p:sp>
      <p:sp>
        <p:nvSpPr>
          <p:cNvPr id="9" name="Text 6"/>
          <p:cNvSpPr/>
          <p:nvPr/>
        </p:nvSpPr>
        <p:spPr>
          <a:xfrm>
            <a:off x="8483388" y="2373015"/>
            <a:ext cx="3555911" cy="647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1000"/>
              </a:lnSpc>
              <a:spcAft>
                <a:spcPts val="700"/>
              </a:spcAft>
              <a:buNone/>
            </a:pP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483388" y="3130648"/>
            <a:ext cx="3555911" cy="1154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20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Bonus credit strengthens the relevant criteria through verification signals and the AI-assisted brief builder.</a:t>
            </a:r>
            <a:endParaRPr lang="en-US" sz="2050" dirty="0"/>
          </a:p>
        </p:txBody>
      </p:sp>
      <p:sp>
        <p:nvSpPr>
          <p:cNvPr id="11" name="Text 8"/>
          <p:cNvSpPr/>
          <p:nvPr/>
        </p:nvSpPr>
        <p:spPr>
          <a:xfrm>
            <a:off x="11366712" y="6447582"/>
            <a:ext cx="73360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54447"/>
            <a:ext cx="12191695" cy="1262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spc="50" kern="10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152396" y="357484"/>
            <a:ext cx="11886903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2000"/>
              </a:lnSpc>
              <a:buNone/>
            </a:pPr>
            <a:r>
              <a:rPr lang="en-US" sz="7000" b="1" dirty="0">
                <a:solidFill>
                  <a:srgbClr val="000000"/>
                </a:solidFill>
                <a:latin typeface="Gelasio Bold" pitchFamily="34" charset="0"/>
                <a:ea typeface="Gelasio Bold" pitchFamily="34" charset="-122"/>
                <a:cs typeface="Gelasio Bold" pitchFamily="34" charset="-120"/>
              </a:rPr>
              <a:t>Collably makes AI creative production easier to trust—and easier to run.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152396" y="4452838"/>
            <a:ext cx="11886903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 the right creator, shape the right brief, and deliver the work with evidence, clarity, and commercial confidence.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335756" y="6447582"/>
            <a:ext cx="764561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2026-10-10T06:23:11Z</dcterms:created>
  <dcterms:modified xsi:type="dcterms:W3CDTF">2026-10-10T06:23:11Z</dcterms:modified>
</cp:coreProperties>
</file>